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RAG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1F5F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Single-doc
Reasoning</c:v>
                  </c:pt>
                  <c:pt idx="1">
                    <c:v>Multi-doc
Aggregation</c:v>
                  </c:pt>
                  <c:pt idx="2">
                    <c:v>OOLONG
Benchmark</c:v>
                  </c:pt>
                  <c:pt idx="3">
                    <c:v>Needle
in Haystack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</c:v>
                </c:pt>
                <c:pt idx="1">
                  <c:v>55</c:v>
                </c:pt>
                <c:pt idx="2">
                  <c:v>40</c:v>
                </c:pt>
                <c:pt idx="3">
                  <c:v>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DSPy RLM</c:v>
                </c:pt>
              </c:strCache>
            </c:strRef>
          </c:tx>
          <c:spPr>
            <a:solidFill>
              <a:srgbClr val="A78BF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1F5F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Single-doc
Reasoning</c:v>
                  </c:pt>
                  <c:pt idx="1">
                    <c:v>Multi-doc
Aggregation</c:v>
                  </c:pt>
                  <c:pt idx="2">
                    <c:v>OOLONG
Benchmark</c:v>
                  </c:pt>
                  <c:pt idx="3">
                    <c:v>Needle
in Haystack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80</c:v>
                </c:pt>
                <c:pt idx="1">
                  <c:v>90</c:v>
                </c:pt>
                <c:pt idx="2">
                  <c:v>85</c:v>
                </c:pt>
                <c:pt idx="3">
                  <c:v>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1F5F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1628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A162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5143500"/>
          </a:xfrm>
          <a:prstGeom prst="rect">
            <a:avLst/>
          </a:prstGeom>
          <a:solidFill>
            <a:srgbClr val="030F22"/>
          </a:solidFill>
          <a:ln w="12700">
            <a:solidFill>
              <a:srgbClr val="030F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63440" y="0"/>
            <a:ext cx="4480560" cy="5143500"/>
          </a:xfrm>
          <a:prstGeom prst="rect">
            <a:avLst/>
          </a:prstGeom>
          <a:solidFill>
            <a:srgbClr val="0D0A1E"/>
          </a:solidFill>
          <a:ln w="12700">
            <a:solidFill>
              <a:srgbClr val="0D0A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480560" y="0"/>
            <a:ext cx="182880" cy="51435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External vector knowledge base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Pre-indexed chunked retrieval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Single-pass generation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 latency, production-ready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60520" y="22860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64008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RLM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4846320" y="19202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Language Model (DSPy)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246888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Prompt-as-environment (REPL)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Code-driven programmatic search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Recursive sub-LLM calls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Unlimited context, experimental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Rot Metrics · Architecture · Performance · Cost · Use Cases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THEY WORK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4160520" cy="4206240"/>
          </a:xfrm>
          <a:prstGeom prst="rect">
            <a:avLst/>
          </a:prstGeom>
          <a:solidFill>
            <a:srgbClr val="0A1628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685800"/>
            <a:ext cx="4160520" cy="347472"/>
          </a:xfrm>
          <a:prstGeom prst="rect">
            <a:avLst/>
          </a:prstGeom>
          <a:solidFill>
            <a:srgbClr val="042A3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858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  (Retrieval-Augmented Generation)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1115568"/>
            <a:ext cx="320040" cy="3200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1155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0C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12471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 Phase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29844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split into chunks → embedded as vectors → stored in vector DB (Pinecone, Weaviate, etc.)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84048" y="1828800"/>
            <a:ext cx="320040" cy="3200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828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0C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183794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Phase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2011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 embedded → top-k nearest chunks retrieved by cosine similarity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4048" y="2542032"/>
            <a:ext cx="320040" cy="3200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5420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0C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255117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Augmentation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72491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chunks concatenated into prompt context (typically 2–20 chunks, ~2K–20K tokens)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4048" y="3255264"/>
            <a:ext cx="320040" cy="3200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2552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0C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326440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343814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performs single forward pass over augmented prompt → produces answer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84048" y="3968496"/>
            <a:ext cx="320040" cy="3200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9684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0C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" y="39776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Bottleneck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415137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reasoning in ONE pass. Positional bias applies inside retrieved context. Lost-in-middle still possible.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9160" y="685800"/>
            <a:ext cx="4160520" cy="4206240"/>
          </a:xfrm>
          <a:prstGeom prst="rect">
            <a:avLst/>
          </a:prstGeom>
          <a:solidFill>
            <a:srgbClr val="0A1628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685800"/>
            <a:ext cx="4160520" cy="347472"/>
          </a:xfrm>
          <a:prstGeom prst="rect">
            <a:avLst/>
          </a:prstGeom>
          <a:solidFill>
            <a:srgbClr val="11062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6858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RLM  (Recursive Language Model — DSPy)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18888" y="1115568"/>
            <a:ext cx="320040" cy="3200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11155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0C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12080" y="112471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 Setup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12080" y="129844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context stored as Python variable in sandboxed REPL (Deno/Pyodide WASM). LLM never sees full text.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18888" y="1828800"/>
            <a:ext cx="320040" cy="3200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18888" y="1828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0C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12080" y="183794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 Peek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12080" y="2011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receives only type, length, and 2K-char preview of the data variable.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18888" y="2542032"/>
            <a:ext cx="320040" cy="3200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18888" y="25420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0C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212080" y="255117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Generation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212080" y="272491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writes Python to explore: slice, regex, search, filter, aggregate — executed in sandbox.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18888" y="3255264"/>
            <a:ext cx="320040" cy="3200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18888" y="32552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0C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212080" y="326440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Sub-LLM Calls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212080" y="343814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semantic work, calls llm_query(chunk) — recursively invoking a (cheaper) sub-model on small snippets.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818888" y="3968496"/>
            <a:ext cx="320040" cy="3200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18888" y="39684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0C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212080" y="39776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SUBMIT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212080" y="415137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calls SUBMIT(answer) when confident. Full trajectory logged for debugging.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ROT  —  RESOLUTION MATRIX  (with sources)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6032" y="621792"/>
            <a:ext cx="1051560" cy="292608"/>
          </a:xfrm>
          <a:prstGeom prst="rect">
            <a:avLst/>
          </a:prstGeom>
          <a:solidFill>
            <a:srgbClr val="0F2A3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1752" y="62179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344168" y="621792"/>
            <a:ext cx="1783080" cy="292608"/>
          </a:xfrm>
          <a:prstGeom prst="rect">
            <a:avLst/>
          </a:prstGeom>
          <a:solidFill>
            <a:srgbClr val="0F2A3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89888" y="62179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ROT TYPE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163824" y="621792"/>
            <a:ext cx="2514600" cy="292608"/>
          </a:xfrm>
          <a:prstGeom prst="rect">
            <a:avLst/>
          </a:prstGeom>
          <a:solidFill>
            <a:srgbClr val="0F2A3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9544" y="62179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715000" y="621792"/>
            <a:ext cx="2514600" cy="292608"/>
          </a:xfrm>
          <a:prstGeom prst="rect">
            <a:avLst/>
          </a:prstGeom>
          <a:solidFill>
            <a:srgbClr val="0F2A3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62179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DSPy RLM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266176" y="621792"/>
            <a:ext cx="777240" cy="292608"/>
          </a:xfrm>
          <a:prstGeom prst="rect">
            <a:avLst/>
          </a:prstGeom>
          <a:solidFill>
            <a:srgbClr val="0F2A3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11896" y="62179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6032" y="978408"/>
            <a:ext cx="8787384" cy="749808"/>
          </a:xfrm>
          <a:prstGeom prst="rect">
            <a:avLst/>
          </a:prstGeom>
          <a:solidFill>
            <a:srgbClr val="0A1628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978408"/>
            <a:ext cx="64008" cy="7498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1024128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344168" y="1024128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in the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(Positional Bias)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163824" y="1042416"/>
            <a:ext cx="749808" cy="182880"/>
          </a:xfrm>
          <a:prstGeom prst="rect">
            <a:avLst/>
          </a:prstGeom>
          <a:solidFill>
            <a:srgbClr val="FCD34D">
              <a:alpha val="20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63824" y="1042416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PARTIALLY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3163824" y="1243584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chunks = fewer positional slots. But U-shaped bias still applies inside retrieved context. Top-k ordering itself introduces positional bias.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715000" y="1042416"/>
            <a:ext cx="749808" cy="182880"/>
          </a:xfrm>
          <a:prstGeom prst="rect">
            <a:avLst/>
          </a:prstGeom>
          <a:solidFill>
            <a:srgbClr val="34D399">
              <a:alpha val="2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15000" y="1042416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FULLY RESOLVES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5715000" y="1243584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only sees exact code-selected snippets. No blob of tokens. Each chunk freshly processed in isolated sub-call — zero positional bias.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8266176" y="1225296"/>
            <a:ext cx="749808" cy="256032"/>
          </a:xfrm>
          <a:prstGeom prst="rect">
            <a:avLst/>
          </a:prstGeom>
          <a:solidFill>
            <a:srgbClr val="1A1506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66176" y="1225296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[1][2]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56032" y="1764792"/>
            <a:ext cx="8787384" cy="749808"/>
          </a:xfrm>
          <a:prstGeom prst="rect">
            <a:avLst/>
          </a:prstGeom>
          <a:solidFill>
            <a:srgbClr val="07111F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1764792"/>
            <a:ext cx="64008" cy="7498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1810512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344168" y="1810512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Dilution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(Quadratic O(n²))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163824" y="1828800"/>
            <a:ext cx="749808" cy="182880"/>
          </a:xfrm>
          <a:prstGeom prst="rect">
            <a:avLst/>
          </a:prstGeom>
          <a:solidFill>
            <a:srgbClr val="FCD34D">
              <a:alpha val="20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63824" y="1828800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PARTIALLY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3163824" y="202996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tokens vs full context. But 20+ retrieved chunks still go into one prompt — dilution reappears at scale.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715000" y="1828800"/>
            <a:ext cx="749808" cy="182880"/>
          </a:xfrm>
          <a:prstGeom prst="rect">
            <a:avLst/>
          </a:prstGeom>
          <a:solidFill>
            <a:srgbClr val="34D399">
              <a:alpha val="2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15000" y="1828800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FULLY RESOLVES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5715000" y="202996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never enters attention layers until explicitly requested. Sub-calls are ~2K tokens each. Needle tasks: O(log N) complexity.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266176" y="2011680"/>
            <a:ext cx="749808" cy="256032"/>
          </a:xfrm>
          <a:prstGeom prst="rect">
            <a:avLst/>
          </a:prstGeom>
          <a:solidFill>
            <a:srgbClr val="1A1506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66176" y="2011680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[1][3]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56032" y="2551176"/>
            <a:ext cx="8787384" cy="749808"/>
          </a:xfrm>
          <a:prstGeom prst="rect">
            <a:avLst/>
          </a:prstGeom>
          <a:solidFill>
            <a:srgbClr val="0A1628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6032" y="2551176"/>
            <a:ext cx="64008" cy="7498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2596896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ROT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344168" y="2596896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Distractor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(Semantic Noise)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163824" y="2615184"/>
            <a:ext cx="749808" cy="182880"/>
          </a:xfrm>
          <a:prstGeom prst="rect">
            <a:avLst/>
          </a:prstGeom>
          <a:solidFill>
            <a:srgbClr val="FB923C">
              <a:alpha val="2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63824" y="2615184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LIMITED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3163824" y="281635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similarity retrieval often pulls topically-close but irrelevant chunks — the worst distractor type. Re-ranking helps but doesn't eliminate.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715000" y="2615184"/>
            <a:ext cx="749808" cy="182880"/>
          </a:xfrm>
          <a:prstGeom prst="rect">
            <a:avLst/>
          </a:prstGeom>
          <a:solidFill>
            <a:srgbClr val="34D399">
              <a:alpha val="2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15000" y="2615184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FULLY RESOLVES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5715000" y="281635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writes code (regex, filters, conditionals) to exclude distractors before any LLM processing. Programmatic, not probabilistic.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8266176" y="2798064"/>
            <a:ext cx="749808" cy="256032"/>
          </a:xfrm>
          <a:prstGeom prst="rect">
            <a:avLst/>
          </a:prstGeom>
          <a:solidFill>
            <a:srgbClr val="1A1506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66176" y="2798064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[1][4]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56032" y="3337560"/>
            <a:ext cx="8787384" cy="749808"/>
          </a:xfrm>
          <a:prstGeom prst="rect">
            <a:avLst/>
          </a:prstGeom>
          <a:solidFill>
            <a:srgbClr val="07111F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56032" y="3337560"/>
            <a:ext cx="64008" cy="7498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7472" y="338328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ROT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1344168" y="3383280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(Multi-hop)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163824" y="3401568"/>
            <a:ext cx="749808" cy="182880"/>
          </a:xfrm>
          <a:prstGeom prst="rect">
            <a:avLst/>
          </a:prstGeom>
          <a:solidFill>
            <a:srgbClr val="FB923C">
              <a:alpha val="2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63824" y="3401568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LIMITED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3163824" y="3602736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retrieval clusters around 2–3 sources. 33% failure on multi-document aggregation. Multi-hop RAG variants mitigate but add complexity.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715000" y="3401568"/>
            <a:ext cx="749808" cy="182880"/>
          </a:xfrm>
          <a:prstGeom prst="rect">
            <a:avLst/>
          </a:prstGeom>
          <a:solidFill>
            <a:srgbClr val="34D399">
              <a:alpha val="2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715000" y="3401568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FULLY RESOLVES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5715000" y="3602736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multi-hop: llm_query() sub-calls chain across any hop depth. RLM GPT-5-mini outperformed GPT-5 on OOLONG benchmark.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8266176" y="3584448"/>
            <a:ext cx="749808" cy="256032"/>
          </a:xfrm>
          <a:prstGeom prst="rect">
            <a:avLst/>
          </a:prstGeom>
          <a:solidFill>
            <a:srgbClr val="1A1506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266176" y="3584448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[1][3][5]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256032" y="4123944"/>
            <a:ext cx="8787384" cy="749808"/>
          </a:xfrm>
          <a:prstGeom prst="rect">
            <a:avLst/>
          </a:prstGeom>
          <a:solidFill>
            <a:srgbClr val="0A1628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56032" y="4123944"/>
            <a:ext cx="64008" cy="7498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47472" y="4169664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ROT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1344168" y="4169664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Model-Specific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(Hallucination)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3163824" y="4187952"/>
            <a:ext cx="749808" cy="182880"/>
          </a:xfrm>
          <a:prstGeom prst="rect">
            <a:avLst/>
          </a:prstGeom>
          <a:solidFill>
            <a:srgbClr val="FCD34D">
              <a:alpha val="20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163824" y="4187952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PARTIALLY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3163824" y="438912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context reduces hallucination vs baseline. But model still hallucinates when distractor-loaded context confuses it. Doesn't fix architecture.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5715000" y="4187952"/>
            <a:ext cx="749808" cy="182880"/>
          </a:xfrm>
          <a:prstGeom prst="rect">
            <a:avLst/>
          </a:prstGeom>
          <a:solidFill>
            <a:srgbClr val="FB923C">
              <a:alpha val="2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715000" y="4187952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LIMITED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5715000" y="438912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Code-execution truth reduces hallucination for verifiable facts. BUT standard models (GPT-4o) score 0/6 on aggregation. Variance is high (std=0.75+).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8266176" y="4370832"/>
            <a:ext cx="749808" cy="256032"/>
          </a:xfrm>
          <a:prstGeom prst="rect">
            <a:avLst/>
          </a:prstGeom>
          <a:solidFill>
            <a:srgbClr val="1A1506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266176" y="4370832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[1][4][6]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256032" y="4892040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Chroma Research 2025  [2] Liu et al. Stanford/TACL 2024  [3] Zhang et al. MIT CSAIL 2025  [4] anothercodingblog.com n=30 study  [5] OOLONG Benchmark  [6] Chroma 18-model study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EXHAUSTIVE COMPARISON  —  TECHNICAL DIMENSIONS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56032" y="621792"/>
            <a:ext cx="1051560" cy="274320"/>
          </a:xfrm>
          <a:prstGeom prst="rect">
            <a:avLst/>
          </a:prstGeom>
          <a:solidFill>
            <a:srgbClr val="0F2A3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1752" y="62179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344168" y="621792"/>
            <a:ext cx="1828800" cy="274320"/>
          </a:xfrm>
          <a:prstGeom prst="rect">
            <a:avLst/>
          </a:prstGeom>
          <a:solidFill>
            <a:srgbClr val="0F2A3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89888" y="6217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DIMENSION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9544" y="621792"/>
            <a:ext cx="2468880" cy="274320"/>
          </a:xfrm>
          <a:prstGeom prst="rect">
            <a:avLst/>
          </a:prstGeom>
          <a:solidFill>
            <a:srgbClr val="0F2A3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55264" y="62179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715000" y="621792"/>
            <a:ext cx="2468880" cy="274320"/>
          </a:xfrm>
          <a:prstGeom prst="rect">
            <a:avLst/>
          </a:prstGeom>
          <a:solidFill>
            <a:srgbClr val="0F2A3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62179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DSPy RLM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220456" y="621792"/>
            <a:ext cx="822960" cy="274320"/>
          </a:xfrm>
          <a:prstGeom prst="rect">
            <a:avLst/>
          </a:prstGeom>
          <a:solidFill>
            <a:srgbClr val="0F2A3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66176" y="62179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6032" y="960120"/>
            <a:ext cx="8787384" cy="457200"/>
          </a:xfrm>
          <a:prstGeom prst="rect">
            <a:avLst/>
          </a:prstGeom>
          <a:solidFill>
            <a:srgbClr val="0A1628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960120"/>
            <a:ext cx="64008" cy="4572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99669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371600" y="99669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Scale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36976" y="996696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~100K tokens depending on retrieval quality. Practical sweet spot: 2K–20K.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742432" y="996696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Virtually unlimited — tested at 2.2M+ tokens. O(log N) exploration for needle tasks.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247888" y="1069848"/>
            <a:ext cx="777240" cy="237744"/>
          </a:xfrm>
          <a:prstGeom prst="rect">
            <a:avLst/>
          </a:prstGeom>
          <a:solidFill>
            <a:srgbClr val="1A1506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47888" y="1069848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[1][2]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56032" y="1453896"/>
            <a:ext cx="8787384" cy="457200"/>
          </a:xfrm>
          <a:prstGeom prst="rect">
            <a:avLst/>
          </a:prstGeom>
          <a:solidFill>
            <a:srgbClr val="07111F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" y="1453896"/>
            <a:ext cx="64008" cy="4572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149047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371600" y="149047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Access Method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36976" y="1490472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Pre-indexed vector similarity (cosine/BM25). Static at query time — no live exploration.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742432" y="1490472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Python code: slice, regex, search, aggregate on live data variable in REPL.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247888" y="1563624"/>
            <a:ext cx="777240" cy="237744"/>
          </a:xfrm>
          <a:prstGeom prst="rect">
            <a:avLst/>
          </a:prstGeom>
          <a:solidFill>
            <a:srgbClr val="1A1506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47888" y="1563624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[2][5]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6032" y="1947672"/>
            <a:ext cx="8787384" cy="457200"/>
          </a:xfrm>
          <a:prstGeom prst="rect">
            <a:avLst/>
          </a:prstGeom>
          <a:solidFill>
            <a:srgbClr val="0A1628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1947672"/>
            <a:ext cx="64008" cy="4572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198424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REASONING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371600" y="198424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Reasoning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36976" y="1984248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natively. Multi-hop RAG variants (IRCoT, HopRAG) improve but add pipeline layers.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742432" y="1984248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Native. Recursive llm_query() chains across any depth of hops — no extra pipeline needed.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247888" y="2057400"/>
            <a:ext cx="777240" cy="237744"/>
          </a:xfrm>
          <a:prstGeom prst="rect">
            <a:avLst/>
          </a:prstGeom>
          <a:solidFill>
            <a:srgbClr val="1A1506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47888" y="2057400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[1][2][7]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56032" y="2441448"/>
            <a:ext cx="8787384" cy="457200"/>
          </a:xfrm>
          <a:prstGeom prst="rect">
            <a:avLst/>
          </a:prstGeom>
          <a:solidFill>
            <a:srgbClr val="07111F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6032" y="2441448"/>
            <a:ext cx="64008" cy="4572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2478024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REASONING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371600" y="247802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Tasks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236976" y="2478024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 failure on multi-document aggregation (Chroma 2025). Top-k clusters around 2–3 sources.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742432" y="2478024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Excels. Writes map-reduce loops. Systematically covers all documents, not just similar ones.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8247888" y="2551176"/>
            <a:ext cx="777240" cy="237744"/>
          </a:xfrm>
          <a:prstGeom prst="rect">
            <a:avLst/>
          </a:prstGeom>
          <a:solidFill>
            <a:srgbClr val="1A1506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47888" y="2551176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[1][3]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56032" y="2935224"/>
            <a:ext cx="8787384" cy="457200"/>
          </a:xfrm>
          <a:prstGeom prst="rect">
            <a:avLst/>
          </a:prstGeom>
          <a:solidFill>
            <a:srgbClr val="0A1628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56032" y="2935224"/>
            <a:ext cx="64008" cy="457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7472" y="297180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371600" y="29718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Risk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236976" y="2971800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vs no-retrieval baseline. Persists when distractors are retrieved. Context-grounded.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742432" y="2971800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for code-verifiable facts. Higher variance on open-ended tasks. std=0.75 (single-doc).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8247888" y="3044952"/>
            <a:ext cx="777240" cy="237744"/>
          </a:xfrm>
          <a:prstGeom prst="rect">
            <a:avLst/>
          </a:prstGeom>
          <a:solidFill>
            <a:srgbClr val="1A1506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47888" y="3044952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[3][8]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56032" y="3429000"/>
            <a:ext cx="8787384" cy="457200"/>
          </a:xfrm>
          <a:prstGeom prst="rect">
            <a:avLst/>
          </a:prstGeom>
          <a:solidFill>
            <a:srgbClr val="07111F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56032" y="3429000"/>
            <a:ext cx="64008" cy="457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7472" y="346557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371600" y="346557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 / Variance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236976" y="3465576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determinism. std=0.63 on single-doc (empirical n=30 study). Stable retrieval behavior.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742432" y="3465576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variance. std=0.75 single-doc; higher on multi-doc. Path-dependent execution order.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8247888" y="3538728"/>
            <a:ext cx="777240" cy="237744"/>
          </a:xfrm>
          <a:prstGeom prst="rect">
            <a:avLst/>
          </a:prstGeom>
          <a:solidFill>
            <a:srgbClr val="1A1506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247888" y="3538728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256032" y="3922776"/>
            <a:ext cx="8787384" cy="457200"/>
          </a:xfrm>
          <a:prstGeom prst="rect">
            <a:avLst/>
          </a:prstGeom>
          <a:solidFill>
            <a:srgbClr val="0A1628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56032" y="3922776"/>
            <a:ext cx="64008" cy="45720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47472" y="395935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1371600" y="395935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3236976" y="3959352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Low: ~100ms–2s per query. Single retrieval call + one LLM generation.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5742432" y="3959352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High: seconds to minutes. Up to 20 REPL iterations + up to 50 sub-LLM calls.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8247888" y="4032504"/>
            <a:ext cx="777240" cy="237744"/>
          </a:xfrm>
          <a:prstGeom prst="rect">
            <a:avLst/>
          </a:prstGeom>
          <a:solidFill>
            <a:srgbClr val="1A1506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247888" y="4032504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[2][6]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56032" y="4416552"/>
            <a:ext cx="8787384" cy="457200"/>
          </a:xfrm>
          <a:prstGeom prst="rect">
            <a:avLst/>
          </a:prstGeom>
          <a:solidFill>
            <a:srgbClr val="07111F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56032" y="4416552"/>
            <a:ext cx="64008" cy="45720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47472" y="445312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1371600" y="445312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Cost (per query)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3236976" y="4453128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Low: 1 embedding call + 1 LLM generation (2K–20K tokens).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5742432" y="4453128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High: many LLM calls. DSPy RLM ~2x more expensive than custom RLM implementation.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8247888" y="4526280"/>
            <a:ext cx="777240" cy="237744"/>
          </a:xfrm>
          <a:prstGeom prst="rect">
            <a:avLst/>
          </a:prstGeom>
          <a:solidFill>
            <a:srgbClr val="1A1506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247888" y="4526280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[3][6]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256032" y="4919472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Chroma 2025  [2] Zhang/MIT 2025  [3] n=30 blog study  [4] Liu/Stanford TACL 2024  [5] DSPy docs  [6] Ewerlof 2026  [7] Dextralabs 2026  [8] IJET RAG review 2026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EXHAUSTIVE COMPARISON  —  OPERATIONAL DIMENSIONS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56032" y="621792"/>
            <a:ext cx="1051560" cy="274320"/>
          </a:xfrm>
          <a:prstGeom prst="rect">
            <a:avLst/>
          </a:prstGeom>
          <a:solidFill>
            <a:srgbClr val="0F2A3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1752" y="62179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344168" y="621792"/>
            <a:ext cx="1828800" cy="274320"/>
          </a:xfrm>
          <a:prstGeom prst="rect">
            <a:avLst/>
          </a:prstGeom>
          <a:solidFill>
            <a:srgbClr val="0F2A3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89888" y="6217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DIMENSION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9544" y="621792"/>
            <a:ext cx="2468880" cy="274320"/>
          </a:xfrm>
          <a:prstGeom prst="rect">
            <a:avLst/>
          </a:prstGeom>
          <a:solidFill>
            <a:srgbClr val="0F2A3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55264" y="62179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715000" y="621792"/>
            <a:ext cx="2468880" cy="274320"/>
          </a:xfrm>
          <a:prstGeom prst="rect">
            <a:avLst/>
          </a:prstGeom>
          <a:solidFill>
            <a:srgbClr val="0F2A3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62179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DSPy RLM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220456" y="621792"/>
            <a:ext cx="822960" cy="274320"/>
          </a:xfrm>
          <a:prstGeom prst="rect">
            <a:avLst/>
          </a:prstGeom>
          <a:solidFill>
            <a:srgbClr val="0F2A3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66176" y="62179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6032" y="960120"/>
            <a:ext cx="8787384" cy="457200"/>
          </a:xfrm>
          <a:prstGeom prst="rect">
            <a:avLst/>
          </a:prstGeom>
          <a:solidFill>
            <a:srgbClr val="0A1628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960120"/>
            <a:ext cx="64008" cy="4572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99669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371600" y="99669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Complexity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36976" y="996696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Moderate: vector DB + embedding pipeline + chunking strategy. Re-ranker optional.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742432" y="996696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High: Deno runtime + Pyodide/WASM sandbox + security review for code execution. Experimental API.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247888" y="1069848"/>
            <a:ext cx="777240" cy="237744"/>
          </a:xfrm>
          <a:prstGeom prst="rect">
            <a:avLst/>
          </a:prstGeom>
          <a:solidFill>
            <a:srgbClr val="1A1506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47888" y="1069848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[5][6]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56032" y="1453896"/>
            <a:ext cx="8787384" cy="457200"/>
          </a:xfrm>
          <a:prstGeom prst="rect">
            <a:avLst/>
          </a:prstGeom>
          <a:solidFill>
            <a:srgbClr val="07111F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" y="1453896"/>
            <a:ext cx="64008" cy="4572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149047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371600" y="149047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Freshness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36976" y="1490472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Excellent: update vector DB anytime without model retraining. Real-time indexing possible.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742432" y="1490472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on data staging. Raw files updated; no pre-indexing needed — but no semantic index either.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247888" y="1563624"/>
            <a:ext cx="777240" cy="237744"/>
          </a:xfrm>
          <a:prstGeom prst="rect">
            <a:avLst/>
          </a:prstGeom>
          <a:solidFill>
            <a:srgbClr val="1A1506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47888" y="1563624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[8]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6032" y="1947672"/>
            <a:ext cx="8787384" cy="457200"/>
          </a:xfrm>
          <a:prstGeom prst="rect">
            <a:avLst/>
          </a:prstGeom>
          <a:solidFill>
            <a:srgbClr val="0A1628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1947672"/>
            <a:ext cx="64008" cy="4572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198424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371600" y="198424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Debuggability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36976" y="1984248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Moderate: retrieved chunks visible, single reasoning step. Tools: RAGAS, LangSmith.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742432" y="1984248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trajectory: every code step + output logged. But interpreting 20-step recursive traces is complex.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247888" y="2057400"/>
            <a:ext cx="777240" cy="237744"/>
          </a:xfrm>
          <a:prstGeom prst="rect">
            <a:avLst/>
          </a:prstGeom>
          <a:solidFill>
            <a:srgbClr val="1A1506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47888" y="2057400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[2][5]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56032" y="2441448"/>
            <a:ext cx="8787384" cy="457200"/>
          </a:xfrm>
          <a:prstGeom prst="rect">
            <a:avLst/>
          </a:prstGeom>
          <a:solidFill>
            <a:srgbClr val="07111F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6032" y="2441448"/>
            <a:ext cx="64008" cy="4572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2478024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371600" y="247802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Maturity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236976" y="2478024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(2020+). Widely deployed. Rich ecosystem: LangChain, LlamaIndex, Weaviate, Pinecone.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742432" y="2478024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(DSPy 2025). API may change. Thread-safety caveats. Community feedback ongoing.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8247888" y="2551176"/>
            <a:ext cx="777240" cy="237744"/>
          </a:xfrm>
          <a:prstGeom prst="rect">
            <a:avLst/>
          </a:prstGeom>
          <a:solidFill>
            <a:srgbClr val="1A1506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47888" y="2551176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[5][7]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56032" y="2935224"/>
            <a:ext cx="8787384" cy="457200"/>
          </a:xfrm>
          <a:prstGeom prst="rect">
            <a:avLst/>
          </a:prstGeom>
          <a:solidFill>
            <a:srgbClr val="0A1628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56032" y="2935224"/>
            <a:ext cx="64008" cy="45720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7472" y="297180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371600" y="29718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Profile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236976" y="2971800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Safe: no code execution. All queries go to vector DB + LLM only. Enterprise-safe.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742432" y="2971800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sandboxed REPL (Deno WASM). Code injection risk if not isolated. Critical to audit.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8247888" y="3044952"/>
            <a:ext cx="777240" cy="237744"/>
          </a:xfrm>
          <a:prstGeom prst="rect">
            <a:avLst/>
          </a:prstGeom>
          <a:solidFill>
            <a:srgbClr val="1A1506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47888" y="3044952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[5][6]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56032" y="3429000"/>
            <a:ext cx="8787384" cy="457200"/>
          </a:xfrm>
          <a:prstGeom prst="rect">
            <a:avLst/>
          </a:prstGeom>
          <a:solidFill>
            <a:srgbClr val="07111F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56032" y="3429000"/>
            <a:ext cx="64008" cy="4572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7472" y="346557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371600" y="346557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User-Facing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236976" y="3465576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Excellent: standard for chatbots, Q&amp;A, customer support. Sub-second responses feasible.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742432" y="3465576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Poor: minutes-scale latency. Not suitable for synchronous user interaction.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8247888" y="3538728"/>
            <a:ext cx="777240" cy="237744"/>
          </a:xfrm>
          <a:prstGeom prst="rect">
            <a:avLst/>
          </a:prstGeom>
          <a:solidFill>
            <a:srgbClr val="1A1506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247888" y="3538728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[6]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256032" y="3922776"/>
            <a:ext cx="8787384" cy="457200"/>
          </a:xfrm>
          <a:prstGeom prst="rect">
            <a:avLst/>
          </a:prstGeom>
          <a:solidFill>
            <a:srgbClr val="0A1628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56032" y="3922776"/>
            <a:ext cx="64008" cy="4572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47472" y="395935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1371600" y="395935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Requirement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3236976" y="3959352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any LLM (GPT-4o-mini, Claude, Gemini). Cost-flexible and model-agnostic.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5742432" y="3959352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frontier reasoning models (GPT-5-mini, GPT-5.2). Standard GPT-4o scores 0/6 on aggregation.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8247888" y="4032504"/>
            <a:ext cx="777240" cy="237744"/>
          </a:xfrm>
          <a:prstGeom prst="rect">
            <a:avLst/>
          </a:prstGeom>
          <a:solidFill>
            <a:srgbClr val="1A1506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247888" y="4032504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56032" y="4416552"/>
            <a:ext cx="8787384" cy="457200"/>
          </a:xfrm>
          <a:prstGeom prst="rect">
            <a:avLst/>
          </a:prstGeom>
          <a:solidFill>
            <a:srgbClr val="07111F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56032" y="4416552"/>
            <a:ext cx="64008" cy="4572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47472" y="445312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1371600" y="445312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Compatibility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3236976" y="4453128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enhanced: GraphRAG, Self-RAG, RAPTOR, Agentic RAG, HopRAG add multi-hop ability.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5742432" y="4453128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combine: RAG for fast pre-filtering + RLM for deep analysis. Hybrid is emerging best practice.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8247888" y="4526280"/>
            <a:ext cx="777240" cy="237744"/>
          </a:xfrm>
          <a:prstGeom prst="rect">
            <a:avLst/>
          </a:prstGeom>
          <a:solidFill>
            <a:srgbClr val="1A1506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247888" y="4526280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[7][2]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256032" y="4919472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Chroma 2025  [2] Zhang/MIT 2025  [3] n=30 blog study  [4] Liu/Stanford TACL 2024  [5] DSPy docs  [6] Ewerlof 2026  [7] Dextralabs 2026  [8] IJET RAG review 2026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EMPIRICAL PERFORMANCE DATA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68580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279392"/>
            <a:ext cx="5303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[1] Chroma 2025  [2] Zhang/MIT 2025  [3] anothercodingblog n=30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5760720" y="71323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EMPIRICAL FINDINGS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760720" y="1060704"/>
            <a:ext cx="3154680" cy="493776"/>
          </a:xfrm>
          <a:prstGeom prst="rect">
            <a:avLst/>
          </a:prstGeom>
          <a:solidFill>
            <a:srgbClr val="0A162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60720" y="1060704"/>
            <a:ext cx="64008" cy="49377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52160" y="1097280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33%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656832" y="10972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failure on multi-doc aggregation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8613648" y="1197864"/>
            <a:ext cx="256032" cy="201168"/>
          </a:xfrm>
          <a:prstGeom prst="rect">
            <a:avLst/>
          </a:prstGeom>
          <a:solidFill>
            <a:srgbClr val="1A1506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13648" y="1197864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5760720" y="1609344"/>
            <a:ext cx="3154680" cy="493776"/>
          </a:xfrm>
          <a:prstGeom prst="rect">
            <a:avLst/>
          </a:prstGeom>
          <a:solidFill>
            <a:srgbClr val="0A162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60720" y="1609344"/>
            <a:ext cx="64008" cy="49377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52160" y="1645920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2x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656832" y="164592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RLM correct answers vs GPT-5 on OOLONG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8613648" y="1746504"/>
            <a:ext cx="256032" cy="201168"/>
          </a:xfrm>
          <a:prstGeom prst="rect">
            <a:avLst/>
          </a:prstGeom>
          <a:solidFill>
            <a:srgbClr val="1A1506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13648" y="1746504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5760720" y="2157984"/>
            <a:ext cx="3154680" cy="493776"/>
          </a:xfrm>
          <a:prstGeom prst="rect">
            <a:avLst/>
          </a:prstGeom>
          <a:solidFill>
            <a:srgbClr val="0A162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760720" y="2157984"/>
            <a:ext cx="64008" cy="493776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52160" y="2194560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0/6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6656832" y="219456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models (GPT-4o) on RLM aggregation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8613648" y="2295144"/>
            <a:ext cx="256032" cy="201168"/>
          </a:xfrm>
          <a:prstGeom prst="rect">
            <a:avLst/>
          </a:prstGeom>
          <a:solidFill>
            <a:srgbClr val="1A1506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613648" y="2295144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5760720" y="2706624"/>
            <a:ext cx="3154680" cy="493776"/>
          </a:xfrm>
          <a:prstGeom prst="rect">
            <a:avLst/>
          </a:prstGeom>
          <a:solidFill>
            <a:srgbClr val="0A162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760720" y="2706624"/>
            <a:ext cx="64008" cy="49377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52160" y="2743200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6/6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6656832" y="27432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models (GPT-5-mini) on same tasks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8613648" y="2843784"/>
            <a:ext cx="256032" cy="201168"/>
          </a:xfrm>
          <a:prstGeom prst="rect">
            <a:avLst/>
          </a:prstGeom>
          <a:solidFill>
            <a:srgbClr val="1A1506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613648" y="2843784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5760720" y="3255264"/>
            <a:ext cx="3154680" cy="493776"/>
          </a:xfrm>
          <a:prstGeom prst="rect">
            <a:avLst/>
          </a:prstGeom>
          <a:solidFill>
            <a:srgbClr val="0A162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760720" y="3255264"/>
            <a:ext cx="64008" cy="493776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852160" y="3291840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~2x</a:t>
            </a:r>
            <a:endParaRPr lang="en-US" sz="1700" dirty="0"/>
          </a:p>
        </p:txBody>
      </p:sp>
      <p:sp>
        <p:nvSpPr>
          <p:cNvPr id="34" name="Text 31"/>
          <p:cNvSpPr/>
          <p:nvPr/>
        </p:nvSpPr>
        <p:spPr>
          <a:xfrm>
            <a:off x="6656832" y="32918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DSPy RLM cost vs custom RLM implementation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8613648" y="3392424"/>
            <a:ext cx="256032" cy="201168"/>
          </a:xfrm>
          <a:prstGeom prst="rect">
            <a:avLst/>
          </a:prstGeom>
          <a:solidFill>
            <a:srgbClr val="1A1506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613648" y="3392424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5760720" y="3803904"/>
            <a:ext cx="3154680" cy="493776"/>
          </a:xfrm>
          <a:prstGeom prst="rect">
            <a:avLst/>
          </a:prstGeom>
          <a:solidFill>
            <a:srgbClr val="0A162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760720" y="3803904"/>
            <a:ext cx="64008" cy="49377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852160" y="3840480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O(logN)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6656832" y="38404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RLM complexity for needle vs O(N) attention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8613648" y="3941064"/>
            <a:ext cx="256032" cy="201168"/>
          </a:xfrm>
          <a:prstGeom prst="rect">
            <a:avLst/>
          </a:prstGeom>
          <a:solidFill>
            <a:srgbClr val="1A1506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613648" y="3941064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 FRAMEWORK  —  WHEN TO USE EACH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56032" y="658368"/>
            <a:ext cx="2697480" cy="4251960"/>
          </a:xfrm>
          <a:prstGeom prst="rect">
            <a:avLst/>
          </a:prstGeom>
          <a:solidFill>
            <a:srgbClr val="0A1628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658368"/>
            <a:ext cx="2697480" cy="310896"/>
          </a:xfrm>
          <a:prstGeom prst="rect">
            <a:avLst/>
          </a:prstGeom>
          <a:solidFill>
            <a:srgbClr val="042A3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658368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RAG WHEN...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42416"/>
            <a:ext cx="201168" cy="201168"/>
          </a:xfrm>
          <a:prstGeom prst="rect">
            <a:avLst/>
          </a:prstGeom>
          <a:solidFill>
            <a:srgbClr val="22D3EE">
              <a:alpha val="2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424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1042416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/ user-facing chat or Q&amp;A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472184"/>
            <a:ext cx="201168" cy="201168"/>
          </a:xfrm>
          <a:prstGeom prst="rect">
            <a:avLst/>
          </a:prstGeom>
          <a:solidFill>
            <a:srgbClr val="22D3EE">
              <a:alpha val="2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47218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" y="1472184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latency critical (&lt; 2 seconds)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1901952"/>
            <a:ext cx="201168" cy="201168"/>
          </a:xfrm>
          <a:prstGeom prst="rect">
            <a:avLst/>
          </a:prstGeom>
          <a:solidFill>
            <a:srgbClr val="22D3EE">
              <a:alpha val="2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901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" y="1901952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updatable (live docs)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331720"/>
            <a:ext cx="201168" cy="201168"/>
          </a:xfrm>
          <a:prstGeom prst="rect">
            <a:avLst/>
          </a:prstGeom>
          <a:solidFill>
            <a:srgbClr val="22D3EE">
              <a:alpha val="2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33172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" y="2331720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constrained (cost-per-query)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761488"/>
            <a:ext cx="201168" cy="201168"/>
          </a:xfrm>
          <a:prstGeom prst="rect">
            <a:avLst/>
          </a:prstGeom>
          <a:solidFill>
            <a:srgbClr val="22D3EE">
              <a:alpha val="2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76148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" y="2761488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Single-hop fact retrieval tasks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191256"/>
            <a:ext cx="201168" cy="201168"/>
          </a:xfrm>
          <a:prstGeom prst="rect">
            <a:avLst/>
          </a:prstGeom>
          <a:solidFill>
            <a:srgbClr val="22D3EE">
              <a:alpha val="2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19125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" y="3191256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mature ecosystem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621024"/>
            <a:ext cx="201168" cy="201168"/>
          </a:xfrm>
          <a:prstGeom prst="rect">
            <a:avLst/>
          </a:prstGeom>
          <a:solidFill>
            <a:srgbClr val="22D3EE">
              <a:alpha val="2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62102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" y="3621024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execution acceptable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4050792"/>
            <a:ext cx="201168" cy="201168"/>
          </a:xfrm>
          <a:prstGeom prst="rect">
            <a:avLst/>
          </a:prstGeom>
          <a:solidFill>
            <a:srgbClr val="22D3EE">
              <a:alpha val="2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5079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" y="4050792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unfamiliar with sandboxes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154680" y="658368"/>
            <a:ext cx="2697480" cy="4251960"/>
          </a:xfrm>
          <a:prstGeom prst="rect">
            <a:avLst/>
          </a:prstGeom>
          <a:solidFill>
            <a:srgbClr val="0A1628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54680" y="658368"/>
            <a:ext cx="2697480" cy="310896"/>
          </a:xfrm>
          <a:prstGeom prst="rect">
            <a:avLst/>
          </a:prstGeom>
          <a:solidFill>
            <a:srgbClr val="11062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46120" y="658368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RLM WHEN...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64408" y="1042416"/>
            <a:ext cx="201168" cy="201168"/>
          </a:xfrm>
          <a:prstGeom prst="rect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64408" y="10424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520440" y="1042416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&gt; 100K tokens (monorepo, legal)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64408" y="1472184"/>
            <a:ext cx="201168" cy="201168"/>
          </a:xfrm>
          <a:prstGeom prst="rect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64408" y="147218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520440" y="1472184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reasoning across all docs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64408" y="1901952"/>
            <a:ext cx="201168" cy="201168"/>
          </a:xfrm>
          <a:prstGeom prst="rect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64408" y="1901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520440" y="1901952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Aggregation: counts, cross-doc synthesis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264408" y="2331720"/>
            <a:ext cx="201168" cy="201168"/>
          </a:xfrm>
          <a:prstGeom prst="rect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64408" y="233172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520440" y="2331720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/ async: latency not primary concern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264408" y="2761488"/>
            <a:ext cx="201168" cy="201168"/>
          </a:xfrm>
          <a:prstGeom prst="rect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64408" y="276148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520440" y="2761488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should decide its own traversal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264408" y="3191256"/>
            <a:ext cx="201168" cy="201168"/>
          </a:xfrm>
          <a:prstGeom prst="rect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64408" y="319125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520440" y="3191256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models (GPT-5-mini+) available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264408" y="3621024"/>
            <a:ext cx="201168" cy="201168"/>
          </a:xfrm>
          <a:prstGeom prst="rect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64408" y="362102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520440" y="3621024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/ trajectory required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264408" y="4050792"/>
            <a:ext cx="201168" cy="201168"/>
          </a:xfrm>
          <a:prstGeom prst="rect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64408" y="405079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520440" y="4050792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keeps failing on your task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053328" y="658368"/>
            <a:ext cx="2834640" cy="4251960"/>
          </a:xfrm>
          <a:prstGeom prst="rect">
            <a:avLst/>
          </a:prstGeom>
          <a:solidFill>
            <a:srgbClr val="0A1628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053328" y="658368"/>
            <a:ext cx="2834640" cy="310896"/>
          </a:xfrm>
          <a:prstGeom prst="rect">
            <a:avLst/>
          </a:prstGeom>
          <a:solidFill>
            <a:srgbClr val="1A1506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44768" y="658368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 + RLM HYBRID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144768" y="102412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both worlds — emerging practice: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144768" y="1316736"/>
            <a:ext cx="237744" cy="237744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44768" y="131673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0C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437376" y="132588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 pre-filters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6437376" y="149961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narrows to top 50–100 chunks fast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144768" y="1883664"/>
            <a:ext cx="237744" cy="237744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144768" y="188366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0C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437376" y="1892808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RLM deep-dives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437376" y="206654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explores filtered subset with recursive reasoning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6144768" y="2450592"/>
            <a:ext cx="237744" cy="237744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144768" y="245059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0C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6437376" y="2459736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 savings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6437376" y="263347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RLM search space = lower token count + latency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6144768" y="3017520"/>
            <a:ext cx="237744" cy="237744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144768" y="30175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0C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6437376" y="3026664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Quality gains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6437376" y="32004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avoids irrelevant data; RLM avoids top-k miss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6144768" y="3584448"/>
            <a:ext cx="237744" cy="237744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144768" y="35844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0C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6437376" y="359359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 layer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6437376" y="376732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cached; RLM only invoked on novel queries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6144768" y="4151376"/>
            <a:ext cx="237744" cy="237744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144768" y="415137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0C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6437376" y="416052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Tradeoff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6437376" y="433425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complexity. Two failure modes to debug.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REFERENCES  (cited throughout slides as [1]–[8])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6032" y="658368"/>
            <a:ext cx="8778240" cy="329184"/>
          </a:xfrm>
          <a:prstGeom prst="rect">
            <a:avLst/>
          </a:prstGeom>
          <a:solidFill>
            <a:srgbClr val="0A1628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658368"/>
            <a:ext cx="64008" cy="32918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722376"/>
            <a:ext cx="292608" cy="201168"/>
          </a:xfrm>
          <a:prstGeom prst="rect">
            <a:avLst/>
          </a:prstGeom>
          <a:solidFill>
            <a:srgbClr val="1A1506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722376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94944" y="685800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Rot: How Increasing Input Tokens Impacts LLM Performance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94944" y="841248"/>
            <a:ext cx="83210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Hong, Troynikov, Huber — Chroma Research (2025)  —  https://research.trychroma.com/context-rot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6032" y="1024128"/>
            <a:ext cx="8778240" cy="329184"/>
          </a:xfrm>
          <a:prstGeom prst="rect">
            <a:avLst/>
          </a:prstGeom>
          <a:solidFill>
            <a:srgbClr val="07111F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1024128"/>
            <a:ext cx="64008" cy="32918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1088136"/>
            <a:ext cx="292608" cy="201168"/>
          </a:xfrm>
          <a:prstGeom prst="rect">
            <a:avLst/>
          </a:prstGeom>
          <a:solidFill>
            <a:srgbClr val="1A1506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088136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94944" y="1051560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Language Models (arXiv:2512.24601)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94944" y="1207008"/>
            <a:ext cx="83210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Zhang, Kraska, Khattab — MIT CSAIL (Dec 2025, updated Jan 2026)  —  https://arxiv.org/abs/2512.24601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56032" y="1389888"/>
            <a:ext cx="8778240" cy="329184"/>
          </a:xfrm>
          <a:prstGeom prst="rect">
            <a:avLst/>
          </a:prstGeom>
          <a:solidFill>
            <a:srgbClr val="0A1628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1389888"/>
            <a:ext cx="64008" cy="32918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" y="1453896"/>
            <a:ext cx="292608" cy="201168"/>
          </a:xfrm>
          <a:prstGeom prst="rect">
            <a:avLst/>
          </a:prstGeom>
          <a:solidFill>
            <a:srgbClr val="1A1506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1453896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94944" y="1417320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Language Models Work, But Not Every Time — n=30 empirical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94944" y="1572768"/>
            <a:ext cx="83210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anothercodingblog.com (Feb 2026)  —  https://www.anothercodingblog.com/p/recursive-language-models-work-but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56032" y="1755648"/>
            <a:ext cx="8778240" cy="329184"/>
          </a:xfrm>
          <a:prstGeom prst="rect">
            <a:avLst/>
          </a:prstGeom>
          <a:solidFill>
            <a:srgbClr val="07111F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" y="1755648"/>
            <a:ext cx="64008" cy="32918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" y="1819656"/>
            <a:ext cx="292608" cy="201168"/>
          </a:xfrm>
          <a:prstGeom prst="rect">
            <a:avLst/>
          </a:prstGeom>
          <a:solidFill>
            <a:srgbClr val="1A1506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1819656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94944" y="1783080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in the Middle: How Language Models Use Long Contexts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94944" y="1938528"/>
            <a:ext cx="83210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Liu, Lin, Hewitt et al. — Stanford / TACL (2024)  —  https://arxiv.org/abs/2307.03172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56032" y="2121408"/>
            <a:ext cx="8778240" cy="329184"/>
          </a:xfrm>
          <a:prstGeom prst="rect">
            <a:avLst/>
          </a:prstGeom>
          <a:solidFill>
            <a:srgbClr val="0A1628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6032" y="2121408"/>
            <a:ext cx="64008" cy="32918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" y="2185416"/>
            <a:ext cx="292608" cy="201168"/>
          </a:xfrm>
          <a:prstGeom prst="rect">
            <a:avLst/>
          </a:prstGeom>
          <a:solidFill>
            <a:srgbClr val="1A1506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2185416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[5]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94944" y="2148840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DSPy RLM — API Documentation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94944" y="2304288"/>
            <a:ext cx="83210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NLP / DSPy (2025)  —  https://dspy.ai/api/modules/RLM/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56032" y="2487168"/>
            <a:ext cx="8778240" cy="329184"/>
          </a:xfrm>
          <a:prstGeom prst="rect">
            <a:avLst/>
          </a:prstGeom>
          <a:solidFill>
            <a:srgbClr val="07111F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6032" y="2487168"/>
            <a:ext cx="64008" cy="32918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7472" y="2551176"/>
            <a:ext cx="292608" cy="201168"/>
          </a:xfrm>
          <a:prstGeom prst="rect">
            <a:avLst/>
          </a:prstGeom>
          <a:solidFill>
            <a:srgbClr val="1A1506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2551176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[6]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94944" y="2514600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vs SKILL vs MCP vs RLM — Architecture Comparison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94944" y="2670048"/>
            <a:ext cx="83210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Ewerlof Notes (2026)  —  https://blog.alexewerlof.com/p/rag-vs-skill-vs-mcp-vs-rlm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56032" y="2852928"/>
            <a:ext cx="8778240" cy="329184"/>
          </a:xfrm>
          <a:prstGeom prst="rect">
            <a:avLst/>
          </a:prstGeom>
          <a:solidFill>
            <a:srgbClr val="0A1628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6032" y="2852928"/>
            <a:ext cx="64008" cy="32918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7472" y="2916936"/>
            <a:ext cx="292608" cy="201168"/>
          </a:xfrm>
          <a:prstGeom prst="rect">
            <a:avLst/>
          </a:prstGeom>
          <a:solidFill>
            <a:srgbClr val="1A1506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" y="2916936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[7]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94944" y="2880360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Recursive Language Models Beat Long-Context LLMs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94944" y="3035808"/>
            <a:ext cx="83210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Dextralabs Blog (Jan 2026)  —  https://dextralabs.com/blog/recursive-language-models-rlm/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56032" y="3218688"/>
            <a:ext cx="8778240" cy="329184"/>
          </a:xfrm>
          <a:prstGeom prst="rect">
            <a:avLst/>
          </a:prstGeom>
          <a:solidFill>
            <a:srgbClr val="07111F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56032" y="3218688"/>
            <a:ext cx="64008" cy="32918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47472" y="3282696"/>
            <a:ext cx="292608" cy="201168"/>
          </a:xfrm>
          <a:prstGeom prst="rect">
            <a:avLst/>
          </a:prstGeom>
          <a:solidFill>
            <a:srgbClr val="1A1506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7472" y="3282696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[8]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94944" y="3246120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Systematic Review of RAG: Developments &amp; Limitations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94944" y="3401568"/>
            <a:ext cx="83210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IJET Journal (Mar 2026)  —  https://ijetjournal.org/retrieval-augmented-generation-rag/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56032" y="3584448"/>
            <a:ext cx="8778240" cy="329184"/>
          </a:xfrm>
          <a:prstGeom prst="rect">
            <a:avLst/>
          </a:prstGeom>
          <a:solidFill>
            <a:srgbClr val="0A1628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56032" y="3584448"/>
            <a:ext cx="64008" cy="32918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47472" y="3648456"/>
            <a:ext cx="292608" cy="201168"/>
          </a:xfrm>
          <a:prstGeom prst="rect">
            <a:avLst/>
          </a:prstGeom>
          <a:solidFill>
            <a:srgbClr val="1A1506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7472" y="3648456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94944" y="3611880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HopRAG: Multi-Hop Reasoning for Logic-Aware RAG (arXiv:2502.12442)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94944" y="3767328"/>
            <a:ext cx="83210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2025  —  https://arxiv.org/html/2502.12442v1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256032" y="3950208"/>
            <a:ext cx="8778240" cy="329184"/>
          </a:xfrm>
          <a:prstGeom prst="rect">
            <a:avLst/>
          </a:prstGeom>
          <a:solidFill>
            <a:srgbClr val="07111F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56032" y="3950208"/>
            <a:ext cx="64008" cy="32918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47472" y="4014216"/>
            <a:ext cx="292608" cy="201168"/>
          </a:xfrm>
          <a:prstGeom prst="rect">
            <a:avLst/>
          </a:prstGeom>
          <a:solidFill>
            <a:srgbClr val="1A1506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47472" y="4014216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94944" y="3977640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Language Models: Infinite Context That Works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94944" y="4133088"/>
            <a:ext cx="83210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Pietro Bolcato — Medium (Jan 2026)  —  https://medium.com/@pietrobolcato/recursive-language-models-infinite-context-that-works-174da45412ab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56032" y="4315968"/>
            <a:ext cx="8778240" cy="329184"/>
          </a:xfrm>
          <a:prstGeom prst="rect">
            <a:avLst/>
          </a:prstGeom>
          <a:solidFill>
            <a:srgbClr val="0A1628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56032" y="4315968"/>
            <a:ext cx="64008" cy="32918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47472" y="4379976"/>
            <a:ext cx="292608" cy="201168"/>
          </a:xfrm>
          <a:prstGeom prst="rect">
            <a:avLst/>
          </a:prstGeom>
          <a:solidFill>
            <a:srgbClr val="1A1506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47472" y="4379976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694944" y="4343400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Rot: 7 Practical Fixes — RLM vs RAG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94944" y="4498848"/>
            <a:ext cx="83210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BinaryVerse AI (Jan 2026)  —  https://binaryverseai.com/recursive-language-models-rag-long-context-rot/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256032" y="4681728"/>
            <a:ext cx="8778240" cy="329184"/>
          </a:xfrm>
          <a:prstGeom prst="rect">
            <a:avLst/>
          </a:prstGeom>
          <a:solidFill>
            <a:srgbClr val="07111F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56032" y="4681728"/>
            <a:ext cx="64008" cy="32918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47472" y="4745736"/>
            <a:ext cx="292608" cy="201168"/>
          </a:xfrm>
          <a:prstGeom prst="rect">
            <a:avLst/>
          </a:prstGeom>
          <a:solidFill>
            <a:srgbClr val="1A1506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47472" y="4745736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694944" y="4709160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RLM GitHub Repository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694944" y="4864608"/>
            <a:ext cx="83210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L. Zhang, MIT CSAIL  —  https://github.com/alexzhang13/rlm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vs RLM: Exhaustive Comparison</dc:title>
  <dc:subject>PptxGenJS Presentation</dc:subject>
  <dc:creator>PptxGenJS</dc:creator>
  <cp:lastModifiedBy>PptxGenJS</cp:lastModifiedBy>
  <cp:revision>1</cp:revision>
  <dcterms:created xsi:type="dcterms:W3CDTF">2026-03-08T22:53:42Z</dcterms:created>
  <dcterms:modified xsi:type="dcterms:W3CDTF">2026-03-08T22:53:42Z</dcterms:modified>
</cp:coreProperties>
</file>